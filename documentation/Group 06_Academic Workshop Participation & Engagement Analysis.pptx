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Cambria Bold" panose="020408030504060302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0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50390" y="2535260"/>
            <a:ext cx="10379158" cy="103791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5150" y="2672599"/>
            <a:ext cx="1291938" cy="129193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154982" y="3080043"/>
            <a:ext cx="592274" cy="477050"/>
          </a:xfrm>
          <a:custGeom>
            <a:avLst/>
            <a:gdLst/>
            <a:ahLst/>
            <a:cxnLst/>
            <a:rect l="l" t="t" r="r" b="b"/>
            <a:pathLst>
              <a:path w="592274" h="477050">
                <a:moveTo>
                  <a:pt x="0" y="0"/>
                </a:moveTo>
                <a:lnTo>
                  <a:pt x="592274" y="0"/>
                </a:lnTo>
                <a:lnTo>
                  <a:pt x="592274" y="477050"/>
                </a:lnTo>
                <a:lnTo>
                  <a:pt x="0" y="477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4" y="3498466"/>
            <a:ext cx="7704282" cy="5398847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4682169" y="5812006"/>
            <a:ext cx="2945470" cy="2945470"/>
          </a:xfrm>
          <a:custGeom>
            <a:avLst/>
            <a:gdLst/>
            <a:ahLst/>
            <a:cxnLst/>
            <a:rect l="l" t="t" r="r" b="b"/>
            <a:pathLst>
              <a:path w="2945470" h="2945470">
                <a:moveTo>
                  <a:pt x="0" y="0"/>
                </a:moveTo>
                <a:lnTo>
                  <a:pt x="2945470" y="0"/>
                </a:lnTo>
                <a:lnTo>
                  <a:pt x="2945470" y="2945470"/>
                </a:lnTo>
                <a:lnTo>
                  <a:pt x="0" y="294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024383" y="1019112"/>
            <a:ext cx="8115300" cy="244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Academic Workshop Participation &amp; Engagement Analysis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59802" y="5625714"/>
            <a:ext cx="6901629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FC223007-W.R.U.T.D. Wijayasundara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FC223027-P.S.D.K.Fernando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FC223021-G.K.Krishmanthi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FC223025-W.T.M. Silva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FC223005-A.N.M.H.W. Nawarathna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FC223026-R.S. Muthumali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428768" y="3778540"/>
            <a:ext cx="1164439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1">
                <a:solidFill>
                  <a:srgbClr val="022983"/>
                </a:solidFill>
                <a:latin typeface="Cambria Bold"/>
                <a:ea typeface="Cambria Bold"/>
                <a:cs typeface="Cambria Bold"/>
                <a:sym typeface="Cambria Bold"/>
              </a:rPr>
              <a:t>CIS3062 – Business Intelligence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48392" y="4637748"/>
            <a:ext cx="3134408" cy="620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07"/>
              </a:lnSpc>
              <a:spcBef>
                <a:spcPct val="0"/>
              </a:spcBef>
            </a:pPr>
            <a:r>
              <a:rPr lang="en-US" sz="379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By Group 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 dirty="0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665177" y="9527688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19112" y="615150"/>
            <a:ext cx="8007813" cy="1162030"/>
            <a:chOff x="0" y="0"/>
            <a:chExt cx="2109054" cy="306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9054" cy="306049"/>
            </a:xfrm>
            <a:custGeom>
              <a:avLst/>
              <a:gdLst/>
              <a:ahLst/>
              <a:cxnLst/>
              <a:rect l="l" t="t" r="r" b="b"/>
              <a:pathLst>
                <a:path w="2109054" h="306049">
                  <a:moveTo>
                    <a:pt x="23203" y="0"/>
                  </a:moveTo>
                  <a:lnTo>
                    <a:pt x="2085851" y="0"/>
                  </a:lnTo>
                  <a:cubicBezTo>
                    <a:pt x="2098665" y="0"/>
                    <a:pt x="2109054" y="10388"/>
                    <a:pt x="2109054" y="23203"/>
                  </a:cubicBezTo>
                  <a:lnTo>
                    <a:pt x="2109054" y="282846"/>
                  </a:lnTo>
                  <a:cubicBezTo>
                    <a:pt x="2109054" y="295661"/>
                    <a:pt x="2098665" y="306049"/>
                    <a:pt x="2085851" y="306049"/>
                  </a:cubicBezTo>
                  <a:lnTo>
                    <a:pt x="23203" y="306049"/>
                  </a:lnTo>
                  <a:cubicBezTo>
                    <a:pt x="10388" y="306049"/>
                    <a:pt x="0" y="295661"/>
                    <a:pt x="0" y="282846"/>
                  </a:cubicBezTo>
                  <a:lnTo>
                    <a:pt x="0" y="23203"/>
                  </a:lnTo>
                  <a:cubicBezTo>
                    <a:pt x="0" y="10388"/>
                    <a:pt x="10388" y="0"/>
                    <a:pt x="232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09054" cy="344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8282277" y="-35630"/>
            <a:ext cx="14429859" cy="10322630"/>
          </a:xfrm>
          <a:custGeom>
            <a:avLst/>
            <a:gdLst/>
            <a:ahLst/>
            <a:cxnLst/>
            <a:rect l="l" t="t" r="r" b="b"/>
            <a:pathLst>
              <a:path w="14429859" h="10322630">
                <a:moveTo>
                  <a:pt x="0" y="0"/>
                </a:moveTo>
                <a:lnTo>
                  <a:pt x="14429858" y="0"/>
                </a:lnTo>
                <a:lnTo>
                  <a:pt x="14429858" y="10322630"/>
                </a:lnTo>
                <a:lnTo>
                  <a:pt x="0" y="1032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75" t="-29502" r="-2476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072534" y="809640"/>
            <a:ext cx="750097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45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PROJECT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3781" y="2093752"/>
            <a:ext cx="10318955" cy="241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Workshops improve technical + professional skills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Topics: AI, Cloud, Cybersecurity, Programming, etc.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Data scattered across forms and spreadsheets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Hard to analyze participation manually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BI converts raw data into insights using dashboards</a:t>
            </a:r>
          </a:p>
          <a:p>
            <a:pPr algn="l">
              <a:lnSpc>
                <a:spcPts val="3191"/>
              </a:lnSpc>
            </a:pPr>
            <a:endParaRPr lang="en-US" sz="2799">
              <a:solidFill>
                <a:srgbClr val="2F2F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13781" y="6460716"/>
            <a:ext cx="10318955" cy="361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Workshop data stored in separate systems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No centralized analysis of participation or feedback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 Difficult to identify: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                 ○ Popular workshops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                 ○ Engagement level</a:t>
            </a:r>
          </a:p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                 ○ Effective organizers</a:t>
            </a:r>
          </a:p>
          <a:p>
            <a:pPr marL="604519" lvl="1" indent="-302260" algn="l">
              <a:lnSpc>
                <a:spcPts val="3191"/>
              </a:lnSpc>
              <a:buFont typeface="Arial"/>
              <a:buChar char="•"/>
            </a:pPr>
            <a:r>
              <a:rPr lang="en-US" sz="2799">
                <a:solidFill>
                  <a:srgbClr val="2F2F2F"/>
                </a:solidFill>
                <a:latin typeface="Cambria"/>
                <a:ea typeface="Cambria"/>
                <a:cs typeface="Cambria"/>
                <a:sym typeface="Cambria"/>
              </a:rPr>
              <a:t>Decisions based on assumptions, not data</a:t>
            </a:r>
          </a:p>
          <a:p>
            <a:pPr algn="l">
              <a:lnSpc>
                <a:spcPts val="3191"/>
              </a:lnSpc>
            </a:pPr>
            <a:endParaRPr lang="en-US" sz="2799">
              <a:solidFill>
                <a:srgbClr val="2F2F2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3191"/>
              </a:lnSpc>
            </a:pPr>
            <a:endParaRPr lang="en-US" sz="2799">
              <a:solidFill>
                <a:srgbClr val="2F2F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819112" y="4812911"/>
            <a:ext cx="8007813" cy="1162030"/>
            <a:chOff x="0" y="0"/>
            <a:chExt cx="2109054" cy="3060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9054" cy="306049"/>
            </a:xfrm>
            <a:custGeom>
              <a:avLst/>
              <a:gdLst/>
              <a:ahLst/>
              <a:cxnLst/>
              <a:rect l="l" t="t" r="r" b="b"/>
              <a:pathLst>
                <a:path w="2109054" h="306049">
                  <a:moveTo>
                    <a:pt x="23203" y="0"/>
                  </a:moveTo>
                  <a:lnTo>
                    <a:pt x="2085851" y="0"/>
                  </a:lnTo>
                  <a:cubicBezTo>
                    <a:pt x="2098665" y="0"/>
                    <a:pt x="2109054" y="10388"/>
                    <a:pt x="2109054" y="23203"/>
                  </a:cubicBezTo>
                  <a:lnTo>
                    <a:pt x="2109054" y="282846"/>
                  </a:lnTo>
                  <a:cubicBezTo>
                    <a:pt x="2109054" y="295661"/>
                    <a:pt x="2098665" y="306049"/>
                    <a:pt x="2085851" y="306049"/>
                  </a:cubicBezTo>
                  <a:lnTo>
                    <a:pt x="23203" y="306049"/>
                  </a:lnTo>
                  <a:cubicBezTo>
                    <a:pt x="10388" y="306049"/>
                    <a:pt x="0" y="295661"/>
                    <a:pt x="0" y="282846"/>
                  </a:cubicBezTo>
                  <a:lnTo>
                    <a:pt x="0" y="23203"/>
                  </a:lnTo>
                  <a:cubicBezTo>
                    <a:pt x="0" y="10388"/>
                    <a:pt x="10388" y="0"/>
                    <a:pt x="232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09054" cy="344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72534" y="5007401"/>
            <a:ext cx="750097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45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20515" y="3283932"/>
            <a:ext cx="13446969" cy="134469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1367C">
                      <a:alpha val="100000"/>
                    </a:srgbClr>
                  </a:gs>
                  <a:gs pos="100000">
                    <a:srgbClr val="5DC9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60143" y="3623560"/>
            <a:ext cx="12767714" cy="127677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1736" y="5448681"/>
            <a:ext cx="527556" cy="5275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867485" y="7772816"/>
            <a:ext cx="591405" cy="5914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99841" y="609100"/>
            <a:ext cx="7088318" cy="1250139"/>
            <a:chOff x="0" y="0"/>
            <a:chExt cx="9451090" cy="1666852"/>
          </a:xfrm>
        </p:grpSpPr>
        <p:grpSp>
          <p:nvGrpSpPr>
            <p:cNvPr id="18" name="Group 18"/>
            <p:cNvGrpSpPr/>
            <p:nvPr/>
          </p:nvGrpSpPr>
          <p:grpSpPr>
            <a:xfrm>
              <a:off x="981902" y="0"/>
              <a:ext cx="7870063" cy="1666852"/>
              <a:chOff x="0" y="0"/>
              <a:chExt cx="1554580" cy="32925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554580" cy="329255"/>
              </a:xfrm>
              <a:custGeom>
                <a:avLst/>
                <a:gdLst/>
                <a:ahLst/>
                <a:cxnLst/>
                <a:rect l="l" t="t" r="r" b="b"/>
                <a:pathLst>
                  <a:path w="1554580" h="329255">
                    <a:moveTo>
                      <a:pt x="31479" y="0"/>
                    </a:moveTo>
                    <a:lnTo>
                      <a:pt x="1523101" y="0"/>
                    </a:lnTo>
                    <a:cubicBezTo>
                      <a:pt x="1531450" y="0"/>
                      <a:pt x="1539457" y="3317"/>
                      <a:pt x="1545360" y="9220"/>
                    </a:cubicBezTo>
                    <a:cubicBezTo>
                      <a:pt x="1551264" y="15123"/>
                      <a:pt x="1554580" y="23130"/>
                      <a:pt x="1554580" y="31479"/>
                    </a:cubicBezTo>
                    <a:lnTo>
                      <a:pt x="1554580" y="297776"/>
                    </a:lnTo>
                    <a:cubicBezTo>
                      <a:pt x="1554580" y="306124"/>
                      <a:pt x="1551264" y="314131"/>
                      <a:pt x="1545360" y="320035"/>
                    </a:cubicBezTo>
                    <a:cubicBezTo>
                      <a:pt x="1539457" y="325938"/>
                      <a:pt x="1531450" y="329255"/>
                      <a:pt x="1523101" y="329255"/>
                    </a:cubicBezTo>
                    <a:lnTo>
                      <a:pt x="31479" y="329255"/>
                    </a:lnTo>
                    <a:cubicBezTo>
                      <a:pt x="23130" y="329255"/>
                      <a:pt x="15123" y="325938"/>
                      <a:pt x="9220" y="320035"/>
                    </a:cubicBezTo>
                    <a:cubicBezTo>
                      <a:pt x="3317" y="314131"/>
                      <a:pt x="0" y="306124"/>
                      <a:pt x="0" y="297776"/>
                    </a:cubicBezTo>
                    <a:lnTo>
                      <a:pt x="0" y="31479"/>
                    </a:lnTo>
                    <a:cubicBezTo>
                      <a:pt x="0" y="23130"/>
                      <a:pt x="3317" y="15123"/>
                      <a:pt x="9220" y="9220"/>
                    </a:cubicBezTo>
                    <a:cubicBezTo>
                      <a:pt x="15123" y="3317"/>
                      <a:pt x="23130" y="0"/>
                      <a:pt x="314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554580" cy="3673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283485"/>
              <a:ext cx="9451090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7103" y="2445231"/>
            <a:ext cx="9529191" cy="6534457"/>
            <a:chOff x="0" y="0"/>
            <a:chExt cx="1752857" cy="120198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52857" cy="1201987"/>
            </a:xfrm>
            <a:custGeom>
              <a:avLst/>
              <a:gdLst/>
              <a:ahLst/>
              <a:cxnLst/>
              <a:rect l="l" t="t" r="r" b="b"/>
              <a:pathLst>
                <a:path w="1752857" h="1201987">
                  <a:moveTo>
                    <a:pt x="19499" y="0"/>
                  </a:moveTo>
                  <a:lnTo>
                    <a:pt x="1733358" y="0"/>
                  </a:lnTo>
                  <a:cubicBezTo>
                    <a:pt x="1744127" y="0"/>
                    <a:pt x="1752857" y="8730"/>
                    <a:pt x="1752857" y="19499"/>
                  </a:cubicBezTo>
                  <a:lnTo>
                    <a:pt x="1752857" y="1182489"/>
                  </a:lnTo>
                  <a:cubicBezTo>
                    <a:pt x="1752857" y="1187660"/>
                    <a:pt x="1750803" y="1192620"/>
                    <a:pt x="1747146" y="1196276"/>
                  </a:cubicBezTo>
                  <a:cubicBezTo>
                    <a:pt x="1743489" y="1199933"/>
                    <a:pt x="1738530" y="1201987"/>
                    <a:pt x="1733358" y="1201987"/>
                  </a:cubicBezTo>
                  <a:lnTo>
                    <a:pt x="19499" y="1201987"/>
                  </a:lnTo>
                  <a:cubicBezTo>
                    <a:pt x="8730" y="1201987"/>
                    <a:pt x="0" y="1193258"/>
                    <a:pt x="0" y="1182489"/>
                  </a:cubicBezTo>
                  <a:lnTo>
                    <a:pt x="0" y="19499"/>
                  </a:lnTo>
                  <a:cubicBezTo>
                    <a:pt x="0" y="8730"/>
                    <a:pt x="8730" y="0"/>
                    <a:pt x="19499" y="0"/>
                  </a:cubicBezTo>
                  <a:close/>
                </a:path>
              </a:pathLst>
            </a:custGeom>
            <a:solidFill>
              <a:srgbClr val="FFFFFF">
                <a:alpha val="71765"/>
              </a:srgbClr>
            </a:solidFill>
            <a:ln w="9525" cap="rnd">
              <a:gradFill>
                <a:gsLst>
                  <a:gs pos="0">
                    <a:srgbClr val="01367C">
                      <a:alpha val="72000"/>
                    </a:srgbClr>
                  </a:gs>
                  <a:gs pos="100000">
                    <a:srgbClr val="5DC9E6">
                      <a:alpha val="7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752857" cy="1240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881616" y="5603830"/>
            <a:ext cx="7923600" cy="4337971"/>
          </a:xfrm>
          <a:custGeom>
            <a:avLst/>
            <a:gdLst/>
            <a:ahLst/>
            <a:cxnLst/>
            <a:rect l="l" t="t" r="r" b="b"/>
            <a:pathLst>
              <a:path w="7923600" h="4337971">
                <a:moveTo>
                  <a:pt x="0" y="0"/>
                </a:moveTo>
                <a:lnTo>
                  <a:pt x="7923601" y="0"/>
                </a:lnTo>
                <a:lnTo>
                  <a:pt x="7923601" y="4337971"/>
                </a:lnTo>
                <a:lnTo>
                  <a:pt x="0" y="4337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5287" y="2870886"/>
            <a:ext cx="8512823" cy="59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Main Objective</a:t>
            </a:r>
          </a:p>
          <a:p>
            <a:pPr algn="l">
              <a:lnSpc>
                <a:spcPts val="3920"/>
              </a:lnSpc>
            </a:pPr>
            <a:endParaRPr lang="en-US" sz="28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Build BI dashboard to analyze workshop participation and engagement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Specific Objectives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Compare workshop participation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Identify popular categories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Analyze faculty and academic year trends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Study feedback and satisfaction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 future planning decisions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07220" y="1234170"/>
            <a:ext cx="13811123" cy="138111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26407" y="403631"/>
            <a:ext cx="9180063" cy="1250139"/>
            <a:chOff x="0" y="0"/>
            <a:chExt cx="2417794" cy="3292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17794" cy="329255"/>
            </a:xfrm>
            <a:custGeom>
              <a:avLst/>
              <a:gdLst/>
              <a:ahLst/>
              <a:cxnLst/>
              <a:rect l="l" t="t" r="r" b="b"/>
              <a:pathLst>
                <a:path w="2417794" h="329255">
                  <a:moveTo>
                    <a:pt x="20240" y="0"/>
                  </a:moveTo>
                  <a:lnTo>
                    <a:pt x="2397554" y="0"/>
                  </a:lnTo>
                  <a:cubicBezTo>
                    <a:pt x="2408732" y="0"/>
                    <a:pt x="2417794" y="9062"/>
                    <a:pt x="2417794" y="20240"/>
                  </a:cubicBezTo>
                  <a:lnTo>
                    <a:pt x="2417794" y="309015"/>
                  </a:lnTo>
                  <a:cubicBezTo>
                    <a:pt x="2417794" y="320193"/>
                    <a:pt x="2408732" y="329255"/>
                    <a:pt x="2397554" y="329255"/>
                  </a:cubicBezTo>
                  <a:lnTo>
                    <a:pt x="20240" y="329255"/>
                  </a:lnTo>
                  <a:cubicBezTo>
                    <a:pt x="9062" y="329255"/>
                    <a:pt x="0" y="320193"/>
                    <a:pt x="0" y="309015"/>
                  </a:cubicBezTo>
                  <a:lnTo>
                    <a:pt x="0" y="20240"/>
                  </a:lnTo>
                  <a:cubicBezTo>
                    <a:pt x="0" y="9062"/>
                    <a:pt x="9062" y="0"/>
                    <a:pt x="202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17794" cy="36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69292" y="697230"/>
            <a:ext cx="9802661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5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METHODOLOGY &amp; DATA MODEL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95349" y="6944762"/>
            <a:ext cx="591405" cy="59140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68815" y="1234170"/>
            <a:ext cx="283779" cy="28377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41736" y="5448681"/>
            <a:ext cx="527556" cy="52755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0" y="3174681"/>
            <a:ext cx="7514305" cy="5603112"/>
            <a:chOff x="0" y="0"/>
            <a:chExt cx="10019074" cy="747081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019074" cy="7470817"/>
              <a:chOff x="0" y="0"/>
              <a:chExt cx="1574328" cy="117391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574328" cy="1173913"/>
              </a:xfrm>
              <a:custGeom>
                <a:avLst/>
                <a:gdLst/>
                <a:ahLst/>
                <a:cxnLst/>
                <a:rect l="l" t="t" r="r" b="b"/>
                <a:pathLst>
                  <a:path w="1574328" h="1173913">
                    <a:moveTo>
                      <a:pt x="24727" y="0"/>
                    </a:moveTo>
                    <a:lnTo>
                      <a:pt x="1549601" y="0"/>
                    </a:lnTo>
                    <a:cubicBezTo>
                      <a:pt x="1563257" y="0"/>
                      <a:pt x="1574328" y="11071"/>
                      <a:pt x="1574328" y="24727"/>
                    </a:cubicBezTo>
                    <a:lnTo>
                      <a:pt x="1574328" y="1149186"/>
                    </a:lnTo>
                    <a:cubicBezTo>
                      <a:pt x="1574328" y="1162842"/>
                      <a:pt x="1563257" y="1173913"/>
                      <a:pt x="1549601" y="1173913"/>
                    </a:cubicBezTo>
                    <a:lnTo>
                      <a:pt x="24727" y="1173913"/>
                    </a:lnTo>
                    <a:cubicBezTo>
                      <a:pt x="11071" y="1173913"/>
                      <a:pt x="0" y="1162842"/>
                      <a:pt x="0" y="1149186"/>
                    </a:cubicBezTo>
                    <a:lnTo>
                      <a:pt x="0" y="24727"/>
                    </a:lnTo>
                    <a:cubicBezTo>
                      <a:pt x="0" y="11071"/>
                      <a:pt x="11071" y="0"/>
                      <a:pt x="24727" y="0"/>
                    </a:cubicBezTo>
                    <a:close/>
                  </a:path>
                </a:pathLst>
              </a:custGeom>
              <a:solidFill>
                <a:srgbClr val="FFFFFF">
                  <a:alpha val="56863"/>
                </a:srgbClr>
              </a:solidFill>
              <a:ln w="9525" cap="rnd">
                <a:gradFill>
                  <a:gsLst>
                    <a:gs pos="0">
                      <a:srgbClr val="01367C">
                        <a:alpha val="57000"/>
                      </a:srgbClr>
                    </a:gs>
                    <a:gs pos="100000">
                      <a:srgbClr val="5DC9E6">
                        <a:alpha val="57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1574328" cy="12405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941112" y="710789"/>
              <a:ext cx="7882495" cy="6575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Model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Star schema design in Power BI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Fact tables: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Registration_Data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Feedback_Data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Dimension tables: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Workshop, Faculty, University, Academic Year, Category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Key ID: WorkshopID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endPara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08632" y="5034347"/>
            <a:ext cx="527556" cy="52755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66929" y="1904759"/>
            <a:ext cx="7649510" cy="4602708"/>
            <a:chOff x="0" y="0"/>
            <a:chExt cx="10199347" cy="613694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783624" cy="6123327"/>
              <a:chOff x="0" y="0"/>
              <a:chExt cx="1537331" cy="96217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537331" cy="962177"/>
              </a:xfrm>
              <a:custGeom>
                <a:avLst/>
                <a:gdLst/>
                <a:ahLst/>
                <a:cxnLst/>
                <a:rect l="l" t="t" r="r" b="b"/>
                <a:pathLst>
                  <a:path w="1537331" h="962177">
                    <a:moveTo>
                      <a:pt x="25322" y="0"/>
                    </a:moveTo>
                    <a:lnTo>
                      <a:pt x="1512009" y="0"/>
                    </a:lnTo>
                    <a:cubicBezTo>
                      <a:pt x="1518725" y="0"/>
                      <a:pt x="1525166" y="2668"/>
                      <a:pt x="1529915" y="7417"/>
                    </a:cubicBezTo>
                    <a:cubicBezTo>
                      <a:pt x="1534663" y="12165"/>
                      <a:pt x="1537331" y="18606"/>
                      <a:pt x="1537331" y="25322"/>
                    </a:cubicBezTo>
                    <a:lnTo>
                      <a:pt x="1537331" y="936855"/>
                    </a:lnTo>
                    <a:cubicBezTo>
                      <a:pt x="1537331" y="943571"/>
                      <a:pt x="1534663" y="950012"/>
                      <a:pt x="1529915" y="954761"/>
                    </a:cubicBezTo>
                    <a:cubicBezTo>
                      <a:pt x="1525166" y="959509"/>
                      <a:pt x="1518725" y="962177"/>
                      <a:pt x="1512009" y="962177"/>
                    </a:cubicBezTo>
                    <a:lnTo>
                      <a:pt x="25322" y="962177"/>
                    </a:lnTo>
                    <a:cubicBezTo>
                      <a:pt x="18606" y="962177"/>
                      <a:pt x="12165" y="959509"/>
                      <a:pt x="7417" y="954761"/>
                    </a:cubicBezTo>
                    <a:cubicBezTo>
                      <a:pt x="2668" y="950012"/>
                      <a:pt x="0" y="943571"/>
                      <a:pt x="0" y="936855"/>
                    </a:cubicBezTo>
                    <a:lnTo>
                      <a:pt x="0" y="25322"/>
                    </a:lnTo>
                    <a:cubicBezTo>
                      <a:pt x="0" y="18606"/>
                      <a:pt x="2668" y="12165"/>
                      <a:pt x="7417" y="7417"/>
                    </a:cubicBezTo>
                    <a:cubicBezTo>
                      <a:pt x="12165" y="2668"/>
                      <a:pt x="18606" y="0"/>
                      <a:pt x="25322" y="0"/>
                    </a:cubicBezTo>
                    <a:close/>
                  </a:path>
                </a:pathLst>
              </a:custGeom>
              <a:solidFill>
                <a:srgbClr val="FFFFFF">
                  <a:alpha val="47843"/>
                </a:srgbClr>
              </a:solidFill>
              <a:ln w="9525" cap="rnd">
                <a:gradFill>
                  <a:gsLst>
                    <a:gs pos="0">
                      <a:srgbClr val="01367C">
                        <a:alpha val="48000"/>
                      </a:srgbClr>
                    </a:gs>
                    <a:gs pos="100000">
                      <a:srgbClr val="5DC9E6">
                        <a:alpha val="48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66675"/>
                <a:ext cx="1537331" cy="10288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33909" y="221495"/>
              <a:ext cx="9965437" cy="591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Methodology Overview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Data collected from: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Registration forms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Feedback forms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Tools used: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Google Forms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Excel (cleaning &amp; preparation)</a:t>
              </a:r>
            </a:p>
            <a:p>
              <a:pPr marL="1209039" lvl="2" indent="-403013" algn="l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Power BI (analysis &amp; dashboard)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endPara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5238644" y="7536167"/>
            <a:ext cx="2033634" cy="1568628"/>
          </a:xfrm>
          <a:custGeom>
            <a:avLst/>
            <a:gdLst/>
            <a:ahLst/>
            <a:cxnLst/>
            <a:rect l="l" t="t" r="r" b="b"/>
            <a:pathLst>
              <a:path w="2033634" h="1568628">
                <a:moveTo>
                  <a:pt x="0" y="0"/>
                </a:moveTo>
                <a:lnTo>
                  <a:pt x="2033634" y="0"/>
                </a:lnTo>
                <a:lnTo>
                  <a:pt x="2033634" y="1568629"/>
                </a:lnTo>
                <a:lnTo>
                  <a:pt x="0" y="156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470" r="-19656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376165" y="7536167"/>
            <a:ext cx="1586253" cy="1568628"/>
          </a:xfrm>
          <a:custGeom>
            <a:avLst/>
            <a:gdLst/>
            <a:ahLst/>
            <a:cxnLst/>
            <a:rect l="l" t="t" r="r" b="b"/>
            <a:pathLst>
              <a:path w="1586253" h="1568628">
                <a:moveTo>
                  <a:pt x="0" y="0"/>
                </a:moveTo>
                <a:lnTo>
                  <a:pt x="1586254" y="0"/>
                </a:lnTo>
                <a:lnTo>
                  <a:pt x="1586254" y="1568629"/>
                </a:lnTo>
                <a:lnTo>
                  <a:pt x="0" y="1568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310" t="-6232" r="-28846" b="-2512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28700" y="7635209"/>
            <a:ext cx="2067938" cy="1623091"/>
          </a:xfrm>
          <a:custGeom>
            <a:avLst/>
            <a:gdLst/>
            <a:ahLst/>
            <a:cxnLst/>
            <a:rect l="l" t="t" r="r" b="b"/>
            <a:pathLst>
              <a:path w="2067938" h="1623091">
                <a:moveTo>
                  <a:pt x="0" y="0"/>
                </a:moveTo>
                <a:lnTo>
                  <a:pt x="2067938" y="0"/>
                </a:lnTo>
                <a:lnTo>
                  <a:pt x="2067938" y="1623091"/>
                </a:lnTo>
                <a:lnTo>
                  <a:pt x="0" y="1623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44" t="-42231" r="-24792" b="-46378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60143" y="3623560"/>
            <a:ext cx="12767714" cy="1276771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17193" y="653155"/>
            <a:ext cx="7138054" cy="1162030"/>
            <a:chOff x="0" y="0"/>
            <a:chExt cx="9517406" cy="154937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517406" cy="1549373"/>
              <a:chOff x="0" y="0"/>
              <a:chExt cx="1879981" cy="30604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879981" cy="306049"/>
              </a:xfrm>
              <a:custGeom>
                <a:avLst/>
                <a:gdLst/>
                <a:ahLst/>
                <a:cxnLst/>
                <a:rect l="l" t="t" r="r" b="b"/>
                <a:pathLst>
                  <a:path w="1879981" h="306049">
                    <a:moveTo>
                      <a:pt x="26030" y="0"/>
                    </a:moveTo>
                    <a:lnTo>
                      <a:pt x="1853951" y="0"/>
                    </a:lnTo>
                    <a:cubicBezTo>
                      <a:pt x="1860855" y="0"/>
                      <a:pt x="1867476" y="2742"/>
                      <a:pt x="1872357" y="7624"/>
                    </a:cubicBezTo>
                    <a:cubicBezTo>
                      <a:pt x="1877239" y="12506"/>
                      <a:pt x="1879981" y="19127"/>
                      <a:pt x="1879981" y="26030"/>
                    </a:cubicBezTo>
                    <a:lnTo>
                      <a:pt x="1879981" y="280019"/>
                    </a:lnTo>
                    <a:cubicBezTo>
                      <a:pt x="1879981" y="286922"/>
                      <a:pt x="1877239" y="293543"/>
                      <a:pt x="1872357" y="298425"/>
                    </a:cubicBezTo>
                    <a:cubicBezTo>
                      <a:pt x="1867476" y="303306"/>
                      <a:pt x="1860855" y="306049"/>
                      <a:pt x="1853951" y="306049"/>
                    </a:cubicBezTo>
                    <a:lnTo>
                      <a:pt x="26030" y="306049"/>
                    </a:lnTo>
                    <a:cubicBezTo>
                      <a:pt x="19127" y="306049"/>
                      <a:pt x="12506" y="303306"/>
                      <a:pt x="7624" y="298425"/>
                    </a:cubicBezTo>
                    <a:cubicBezTo>
                      <a:pt x="2742" y="293543"/>
                      <a:pt x="0" y="286922"/>
                      <a:pt x="0" y="280019"/>
                    </a:cubicBezTo>
                    <a:lnTo>
                      <a:pt x="0" y="26030"/>
                    </a:lnTo>
                    <a:cubicBezTo>
                      <a:pt x="0" y="19127"/>
                      <a:pt x="2742" y="12506"/>
                      <a:pt x="7624" y="7624"/>
                    </a:cubicBezTo>
                    <a:cubicBezTo>
                      <a:pt x="12506" y="2742"/>
                      <a:pt x="19127" y="0"/>
                      <a:pt x="2603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879981" cy="3441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01195" y="256145"/>
              <a:ext cx="8915015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OVERVIEW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2555" y="2108073"/>
            <a:ext cx="8301445" cy="5085461"/>
            <a:chOff x="0" y="0"/>
            <a:chExt cx="11068594" cy="678061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068594" cy="6780615"/>
              <a:chOff x="0" y="0"/>
              <a:chExt cx="1794866" cy="109953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94866" cy="1099534"/>
              </a:xfrm>
              <a:custGeom>
                <a:avLst/>
                <a:gdLst/>
                <a:ahLst/>
                <a:cxnLst/>
                <a:rect l="l" t="t" r="r" b="b"/>
                <a:pathLst>
                  <a:path w="1794866" h="1099534">
                    <a:moveTo>
                      <a:pt x="21689" y="0"/>
                    </a:moveTo>
                    <a:lnTo>
                      <a:pt x="1773177" y="0"/>
                    </a:lnTo>
                    <a:cubicBezTo>
                      <a:pt x="1778930" y="0"/>
                      <a:pt x="1784446" y="2285"/>
                      <a:pt x="1788514" y="6352"/>
                    </a:cubicBezTo>
                    <a:cubicBezTo>
                      <a:pt x="1792581" y="10420"/>
                      <a:pt x="1794866" y="15937"/>
                      <a:pt x="1794866" y="21689"/>
                    </a:cubicBezTo>
                    <a:lnTo>
                      <a:pt x="1794866" y="1077845"/>
                    </a:lnTo>
                    <a:cubicBezTo>
                      <a:pt x="1794866" y="1089824"/>
                      <a:pt x="1785156" y="1099534"/>
                      <a:pt x="1773177" y="1099534"/>
                    </a:cubicBezTo>
                    <a:lnTo>
                      <a:pt x="21689" y="1099534"/>
                    </a:lnTo>
                    <a:cubicBezTo>
                      <a:pt x="9710" y="1099534"/>
                      <a:pt x="0" y="1089824"/>
                      <a:pt x="0" y="1077845"/>
                    </a:cubicBezTo>
                    <a:lnTo>
                      <a:pt x="0" y="21689"/>
                    </a:lnTo>
                    <a:cubicBezTo>
                      <a:pt x="0" y="9710"/>
                      <a:pt x="9710" y="0"/>
                      <a:pt x="21689" y="0"/>
                    </a:cubicBezTo>
                    <a:close/>
                  </a:path>
                </a:pathLst>
              </a:custGeom>
              <a:solidFill>
                <a:srgbClr val="FFFFFF">
                  <a:alpha val="56863"/>
                </a:srgbClr>
              </a:solidFill>
              <a:ln w="9525" cap="rnd">
                <a:gradFill>
                  <a:gsLst>
                    <a:gs pos="0">
                      <a:srgbClr val="01367C">
                        <a:alpha val="57000"/>
                      </a:srgbClr>
                    </a:gs>
                    <a:gs pos="100000">
                      <a:srgbClr val="5DC9E6">
                        <a:alpha val="57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1794866" cy="11662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039695" y="686695"/>
              <a:ext cx="8708204" cy="591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Built using Power BI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4 main pages:</a:t>
              </a: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         ○ Executive Overview</a:t>
              </a: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         ○ Participant Analysis</a:t>
              </a: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         ○ Workshop Performance</a:t>
              </a: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         ○ Feedback Analysis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Interactive filters (faculty, category, year, etc.)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endPara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35809" y="4376828"/>
            <a:ext cx="6987989" cy="5107812"/>
            <a:chOff x="0" y="0"/>
            <a:chExt cx="9317318" cy="6810416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317318" cy="6810416"/>
              <a:chOff x="0" y="0"/>
              <a:chExt cx="1464059" cy="1070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64059" cy="1070142"/>
              </a:xfrm>
              <a:custGeom>
                <a:avLst/>
                <a:gdLst/>
                <a:ahLst/>
                <a:cxnLst/>
                <a:rect l="l" t="t" r="r" b="b"/>
                <a:pathLst>
                  <a:path w="1464059" h="1070142">
                    <a:moveTo>
                      <a:pt x="26589" y="0"/>
                    </a:moveTo>
                    <a:lnTo>
                      <a:pt x="1437470" y="0"/>
                    </a:lnTo>
                    <a:cubicBezTo>
                      <a:pt x="1452155" y="0"/>
                      <a:pt x="1464059" y="11904"/>
                      <a:pt x="1464059" y="26589"/>
                    </a:cubicBezTo>
                    <a:lnTo>
                      <a:pt x="1464059" y="1043552"/>
                    </a:lnTo>
                    <a:cubicBezTo>
                      <a:pt x="1464059" y="1058237"/>
                      <a:pt x="1452155" y="1070142"/>
                      <a:pt x="1437470" y="1070142"/>
                    </a:cubicBezTo>
                    <a:lnTo>
                      <a:pt x="26589" y="1070142"/>
                    </a:lnTo>
                    <a:cubicBezTo>
                      <a:pt x="11904" y="1070142"/>
                      <a:pt x="0" y="1058237"/>
                      <a:pt x="0" y="1043552"/>
                    </a:cubicBezTo>
                    <a:lnTo>
                      <a:pt x="0" y="26589"/>
                    </a:lnTo>
                    <a:cubicBezTo>
                      <a:pt x="0" y="11904"/>
                      <a:pt x="11904" y="0"/>
                      <a:pt x="26589" y="0"/>
                    </a:cubicBezTo>
                    <a:close/>
                  </a:path>
                </a:pathLst>
              </a:custGeom>
              <a:solidFill>
                <a:srgbClr val="FFFFFF">
                  <a:alpha val="56863"/>
                </a:srgbClr>
              </a:solidFill>
              <a:ln w="9525" cap="rnd">
                <a:gradFill>
                  <a:gsLst>
                    <a:gs pos="0">
                      <a:srgbClr val="01367C">
                        <a:alpha val="57000"/>
                      </a:srgbClr>
                    </a:gs>
                    <a:gs pos="100000">
                      <a:srgbClr val="5DC9E6">
                        <a:alpha val="57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64059" cy="11082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08588" y="414147"/>
              <a:ext cx="8108356" cy="591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endParaRPr/>
            </a:p>
            <a:p>
              <a:pPr marL="604521" lvl="1" indent="-302261" algn="l">
                <a:lnSpc>
                  <a:spcPts val="3920"/>
                </a:lnSpc>
                <a:buFont typeface="Arial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1,080 registrations across 22 workshops</a:t>
              </a:r>
            </a:p>
            <a:p>
              <a:pPr marL="604521" lvl="1" indent="-302261" algn="l">
                <a:lnSpc>
                  <a:spcPts val="3920"/>
                </a:lnSpc>
                <a:buFont typeface="Arial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212 feedback responses (20%)</a:t>
              </a:r>
            </a:p>
            <a:p>
              <a:pPr marL="604521" lvl="1" indent="-302261" algn="l">
                <a:lnSpc>
                  <a:spcPts val="3920"/>
                </a:lnSpc>
                <a:buFont typeface="Arial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Average satisfaction: 8.94 / 10</a:t>
              </a:r>
            </a:p>
            <a:p>
              <a:pPr marL="604521" lvl="1" indent="-302261" algn="l">
                <a:lnSpc>
                  <a:spcPts val="3920"/>
                </a:lnSpc>
                <a:buFont typeface="Arial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Strong engagement overall</a:t>
              </a:r>
            </a:p>
            <a:p>
              <a:pPr marL="604521" lvl="1" indent="-302261" algn="l">
                <a:lnSpc>
                  <a:spcPts val="3920"/>
                </a:lnSpc>
                <a:buFont typeface="Arial"/>
                <a:buChar char="•"/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Cloud Computing most popular area</a:t>
              </a:r>
            </a:p>
            <a:p>
              <a:pPr algn="l">
                <a:lnSpc>
                  <a:spcPts val="3920"/>
                </a:lnSpc>
                <a:spcBef>
                  <a:spcPct val="0"/>
                </a:spcBef>
              </a:pPr>
              <a:endPara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05008" y="2862974"/>
            <a:ext cx="7074797" cy="1162030"/>
            <a:chOff x="0" y="0"/>
            <a:chExt cx="9433063" cy="154937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433063" cy="1549373"/>
              <a:chOff x="0" y="0"/>
              <a:chExt cx="1863321" cy="30604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863321" cy="306049"/>
              </a:xfrm>
              <a:custGeom>
                <a:avLst/>
                <a:gdLst/>
                <a:ahLst/>
                <a:cxnLst/>
                <a:rect l="l" t="t" r="r" b="b"/>
                <a:pathLst>
                  <a:path w="1863321" h="306049">
                    <a:moveTo>
                      <a:pt x="26263" y="0"/>
                    </a:moveTo>
                    <a:lnTo>
                      <a:pt x="1837058" y="0"/>
                    </a:lnTo>
                    <a:cubicBezTo>
                      <a:pt x="1851563" y="0"/>
                      <a:pt x="1863321" y="11758"/>
                      <a:pt x="1863321" y="26263"/>
                    </a:cubicBezTo>
                    <a:lnTo>
                      <a:pt x="1863321" y="279786"/>
                    </a:lnTo>
                    <a:cubicBezTo>
                      <a:pt x="1863321" y="286751"/>
                      <a:pt x="1860554" y="293431"/>
                      <a:pt x="1855629" y="298357"/>
                    </a:cubicBezTo>
                    <a:cubicBezTo>
                      <a:pt x="1850704" y="303282"/>
                      <a:pt x="1844023" y="306049"/>
                      <a:pt x="1837058" y="306049"/>
                    </a:cubicBezTo>
                    <a:lnTo>
                      <a:pt x="26263" y="306049"/>
                    </a:lnTo>
                    <a:cubicBezTo>
                      <a:pt x="11758" y="306049"/>
                      <a:pt x="0" y="294291"/>
                      <a:pt x="0" y="279786"/>
                    </a:cubicBezTo>
                    <a:lnTo>
                      <a:pt x="0" y="26263"/>
                    </a:lnTo>
                    <a:cubicBezTo>
                      <a:pt x="0" y="19298"/>
                      <a:pt x="2767" y="12618"/>
                      <a:pt x="7692" y="7692"/>
                    </a:cubicBezTo>
                    <a:cubicBezTo>
                      <a:pt x="12618" y="2767"/>
                      <a:pt x="19298" y="0"/>
                      <a:pt x="2626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863321" cy="3441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298526" y="256145"/>
              <a:ext cx="8836011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FINDINGS </a:t>
              </a:r>
            </a:p>
          </p:txBody>
        </p:sp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949" y="5631327"/>
            <a:ext cx="8064544" cy="5048136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86153" y="3740874"/>
            <a:ext cx="328019" cy="278571"/>
            <a:chOff x="0" y="0"/>
            <a:chExt cx="1356360" cy="1151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6360" cy="1151890"/>
            </a:xfrm>
            <a:custGeom>
              <a:avLst/>
              <a:gdLst/>
              <a:ahLst/>
              <a:cxnLst/>
              <a:rect l="l" t="t" r="r" b="b"/>
              <a:pathLst>
                <a:path w="1356360" h="1151890">
                  <a:moveTo>
                    <a:pt x="782320" y="0"/>
                  </a:moveTo>
                  <a:lnTo>
                    <a:pt x="534670" y="0"/>
                  </a:lnTo>
                  <a:lnTo>
                    <a:pt x="1012190" y="480060"/>
                  </a:lnTo>
                  <a:lnTo>
                    <a:pt x="0" y="480060"/>
                  </a:lnTo>
                  <a:lnTo>
                    <a:pt x="0" y="671830"/>
                  </a:lnTo>
                  <a:lnTo>
                    <a:pt x="1012190" y="671830"/>
                  </a:lnTo>
                  <a:lnTo>
                    <a:pt x="534670" y="1151890"/>
                  </a:lnTo>
                  <a:lnTo>
                    <a:pt x="782320" y="1151890"/>
                  </a:lnTo>
                  <a:lnTo>
                    <a:pt x="1356360" y="5753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 rot="8100000">
            <a:off x="15931474" y="3477962"/>
            <a:ext cx="248910" cy="211387"/>
            <a:chOff x="0" y="0"/>
            <a:chExt cx="1356360" cy="1151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6360" cy="1151890"/>
            </a:xfrm>
            <a:custGeom>
              <a:avLst/>
              <a:gdLst/>
              <a:ahLst/>
              <a:cxnLst/>
              <a:rect l="l" t="t" r="r" b="b"/>
              <a:pathLst>
                <a:path w="1356360" h="1151890">
                  <a:moveTo>
                    <a:pt x="782320" y="0"/>
                  </a:moveTo>
                  <a:lnTo>
                    <a:pt x="534670" y="0"/>
                  </a:lnTo>
                  <a:lnTo>
                    <a:pt x="1012190" y="480060"/>
                  </a:lnTo>
                  <a:lnTo>
                    <a:pt x="0" y="480060"/>
                  </a:lnTo>
                  <a:lnTo>
                    <a:pt x="0" y="671830"/>
                  </a:lnTo>
                  <a:lnTo>
                    <a:pt x="1012190" y="671830"/>
                  </a:lnTo>
                  <a:lnTo>
                    <a:pt x="534670" y="1151890"/>
                  </a:lnTo>
                  <a:lnTo>
                    <a:pt x="782320" y="1151890"/>
                  </a:lnTo>
                  <a:lnTo>
                    <a:pt x="1356360" y="5753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0357810" y="0"/>
            <a:ext cx="8384736" cy="10287000"/>
          </a:xfrm>
          <a:custGeom>
            <a:avLst/>
            <a:gdLst/>
            <a:ahLst/>
            <a:cxnLst/>
            <a:rect l="l" t="t" r="r" b="b"/>
            <a:pathLst>
              <a:path w="8384736" h="10287000">
                <a:moveTo>
                  <a:pt x="0" y="0"/>
                </a:moveTo>
                <a:lnTo>
                  <a:pt x="8384736" y="0"/>
                </a:lnTo>
                <a:lnTo>
                  <a:pt x="8384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436" r="-24801" b="-1263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14389" y="3424757"/>
            <a:ext cx="415179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Campaign Performance Highlights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066875" y="1306359"/>
            <a:ext cx="7688294" cy="1162030"/>
            <a:chOff x="0" y="0"/>
            <a:chExt cx="10251059" cy="154937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251059" cy="1549373"/>
              <a:chOff x="0" y="0"/>
              <a:chExt cx="2024900" cy="30604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24900" cy="306049"/>
              </a:xfrm>
              <a:custGeom>
                <a:avLst/>
                <a:gdLst/>
                <a:ahLst/>
                <a:cxnLst/>
                <a:rect l="l" t="t" r="r" b="b"/>
                <a:pathLst>
                  <a:path w="2024900" h="306049">
                    <a:moveTo>
                      <a:pt x="24167" y="0"/>
                    </a:moveTo>
                    <a:lnTo>
                      <a:pt x="2000733" y="0"/>
                    </a:lnTo>
                    <a:cubicBezTo>
                      <a:pt x="2014080" y="0"/>
                      <a:pt x="2024900" y="10820"/>
                      <a:pt x="2024900" y="24167"/>
                    </a:cubicBezTo>
                    <a:lnTo>
                      <a:pt x="2024900" y="281882"/>
                    </a:lnTo>
                    <a:cubicBezTo>
                      <a:pt x="2024900" y="295229"/>
                      <a:pt x="2014080" y="306049"/>
                      <a:pt x="2000733" y="306049"/>
                    </a:cubicBezTo>
                    <a:lnTo>
                      <a:pt x="24167" y="306049"/>
                    </a:lnTo>
                    <a:cubicBezTo>
                      <a:pt x="10820" y="306049"/>
                      <a:pt x="0" y="295229"/>
                      <a:pt x="0" y="281882"/>
                    </a:cubicBezTo>
                    <a:lnTo>
                      <a:pt x="0" y="24167"/>
                    </a:lnTo>
                    <a:cubicBezTo>
                      <a:pt x="0" y="10820"/>
                      <a:pt x="10820" y="0"/>
                      <a:pt x="2416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024900" cy="3441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24413" y="256145"/>
              <a:ext cx="9602232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PARTICIPATION INSIGHTS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9704" y="2933469"/>
            <a:ext cx="7337718" cy="3348475"/>
            <a:chOff x="0" y="0"/>
            <a:chExt cx="1537331" cy="7015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37331" cy="701542"/>
            </a:xfrm>
            <a:custGeom>
              <a:avLst/>
              <a:gdLst/>
              <a:ahLst/>
              <a:cxnLst/>
              <a:rect l="l" t="t" r="r" b="b"/>
              <a:pathLst>
                <a:path w="1537331" h="701542">
                  <a:moveTo>
                    <a:pt x="25322" y="0"/>
                  </a:moveTo>
                  <a:lnTo>
                    <a:pt x="1512009" y="0"/>
                  </a:lnTo>
                  <a:cubicBezTo>
                    <a:pt x="1518725" y="0"/>
                    <a:pt x="1525166" y="2668"/>
                    <a:pt x="1529915" y="7417"/>
                  </a:cubicBezTo>
                  <a:cubicBezTo>
                    <a:pt x="1534663" y="12165"/>
                    <a:pt x="1537331" y="18606"/>
                    <a:pt x="1537331" y="25322"/>
                  </a:cubicBezTo>
                  <a:lnTo>
                    <a:pt x="1537331" y="676220"/>
                  </a:lnTo>
                  <a:cubicBezTo>
                    <a:pt x="1537331" y="682935"/>
                    <a:pt x="1534663" y="689376"/>
                    <a:pt x="1529915" y="694125"/>
                  </a:cubicBezTo>
                  <a:cubicBezTo>
                    <a:pt x="1525166" y="698874"/>
                    <a:pt x="1518725" y="701542"/>
                    <a:pt x="1512009" y="701542"/>
                  </a:cubicBezTo>
                  <a:lnTo>
                    <a:pt x="25322" y="701542"/>
                  </a:lnTo>
                  <a:cubicBezTo>
                    <a:pt x="18606" y="701542"/>
                    <a:pt x="12165" y="698874"/>
                    <a:pt x="7417" y="694125"/>
                  </a:cubicBezTo>
                  <a:cubicBezTo>
                    <a:pt x="2668" y="689376"/>
                    <a:pt x="0" y="682935"/>
                    <a:pt x="0" y="676220"/>
                  </a:cubicBezTo>
                  <a:lnTo>
                    <a:pt x="0" y="25322"/>
                  </a:lnTo>
                  <a:cubicBezTo>
                    <a:pt x="0" y="18606"/>
                    <a:pt x="2668" y="12165"/>
                    <a:pt x="7417" y="7417"/>
                  </a:cubicBezTo>
                  <a:cubicBezTo>
                    <a:pt x="12165" y="2668"/>
                    <a:pt x="18606" y="0"/>
                    <a:pt x="2532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gradFill>
                <a:gsLst>
                  <a:gs pos="0">
                    <a:srgbClr val="01367C">
                      <a:alpha val="100000"/>
                    </a:srgbClr>
                  </a:gs>
                  <a:gs pos="100000">
                    <a:srgbClr val="5DC9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37331" cy="739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803524" y="5942347"/>
            <a:ext cx="6707028" cy="4045940"/>
          </a:xfrm>
          <a:custGeom>
            <a:avLst/>
            <a:gdLst/>
            <a:ahLst/>
            <a:cxnLst/>
            <a:rect l="l" t="t" r="r" b="b"/>
            <a:pathLst>
              <a:path w="6707028" h="4045940">
                <a:moveTo>
                  <a:pt x="0" y="0"/>
                </a:moveTo>
                <a:lnTo>
                  <a:pt x="6707027" y="0"/>
                </a:lnTo>
                <a:lnTo>
                  <a:pt x="6707027" y="4045940"/>
                </a:lnTo>
                <a:lnTo>
                  <a:pt x="0" y="404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9704" y="2674419"/>
            <a:ext cx="7474078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endParaRPr/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Highest workshop series: Beauty of Cloud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active faculty: Computing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active year: 2nd year students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USJ dominates participation (63.8%)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External universities also involved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20515" y="3283932"/>
            <a:ext cx="13446969" cy="134469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1367C">
                      <a:alpha val="100000"/>
                    </a:srgbClr>
                  </a:gs>
                  <a:gs pos="100000">
                    <a:srgbClr val="5DC9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60143" y="3623560"/>
            <a:ext cx="12767714" cy="127677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1736" y="5448681"/>
            <a:ext cx="527556" cy="5275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867485" y="7772816"/>
            <a:ext cx="591405" cy="5914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23781" y="722901"/>
            <a:ext cx="7806022" cy="1250139"/>
            <a:chOff x="0" y="0"/>
            <a:chExt cx="10408029" cy="1666852"/>
          </a:xfrm>
        </p:grpSpPr>
        <p:grpSp>
          <p:nvGrpSpPr>
            <p:cNvPr id="18" name="Group 18"/>
            <p:cNvGrpSpPr/>
            <p:nvPr/>
          </p:nvGrpSpPr>
          <p:grpSpPr>
            <a:xfrm>
              <a:off x="1081321" y="0"/>
              <a:ext cx="8666920" cy="1666852"/>
              <a:chOff x="0" y="0"/>
              <a:chExt cx="1711984" cy="32925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711984" cy="329255"/>
              </a:xfrm>
              <a:custGeom>
                <a:avLst/>
                <a:gdLst/>
                <a:ahLst/>
                <a:cxnLst/>
                <a:rect l="l" t="t" r="r" b="b"/>
                <a:pathLst>
                  <a:path w="1711984" h="329255">
                    <a:moveTo>
                      <a:pt x="28585" y="0"/>
                    </a:moveTo>
                    <a:lnTo>
                      <a:pt x="1683400" y="0"/>
                    </a:lnTo>
                    <a:cubicBezTo>
                      <a:pt x="1699186" y="0"/>
                      <a:pt x="1711984" y="12798"/>
                      <a:pt x="1711984" y="28585"/>
                    </a:cubicBezTo>
                    <a:lnTo>
                      <a:pt x="1711984" y="300670"/>
                    </a:lnTo>
                    <a:cubicBezTo>
                      <a:pt x="1711984" y="316457"/>
                      <a:pt x="1699186" y="329255"/>
                      <a:pt x="1683400" y="329255"/>
                    </a:cubicBezTo>
                    <a:lnTo>
                      <a:pt x="28585" y="329255"/>
                    </a:lnTo>
                    <a:cubicBezTo>
                      <a:pt x="12798" y="329255"/>
                      <a:pt x="0" y="316457"/>
                      <a:pt x="0" y="300670"/>
                    </a:cubicBezTo>
                    <a:lnTo>
                      <a:pt x="0" y="28585"/>
                    </a:lnTo>
                    <a:cubicBezTo>
                      <a:pt x="0" y="12798"/>
                      <a:pt x="12798" y="0"/>
                      <a:pt x="2858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711984" cy="3673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283485"/>
              <a:ext cx="10408029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INSIGHTS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7103" y="2445231"/>
            <a:ext cx="9529191" cy="3531006"/>
            <a:chOff x="0" y="0"/>
            <a:chExt cx="1752857" cy="6495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52857" cy="649515"/>
            </a:xfrm>
            <a:custGeom>
              <a:avLst/>
              <a:gdLst/>
              <a:ahLst/>
              <a:cxnLst/>
              <a:rect l="l" t="t" r="r" b="b"/>
              <a:pathLst>
                <a:path w="1752857" h="649515">
                  <a:moveTo>
                    <a:pt x="19499" y="0"/>
                  </a:moveTo>
                  <a:lnTo>
                    <a:pt x="1733358" y="0"/>
                  </a:lnTo>
                  <a:cubicBezTo>
                    <a:pt x="1744127" y="0"/>
                    <a:pt x="1752857" y="8730"/>
                    <a:pt x="1752857" y="19499"/>
                  </a:cubicBezTo>
                  <a:lnTo>
                    <a:pt x="1752857" y="630016"/>
                  </a:lnTo>
                  <a:cubicBezTo>
                    <a:pt x="1752857" y="635187"/>
                    <a:pt x="1750803" y="640147"/>
                    <a:pt x="1747146" y="643804"/>
                  </a:cubicBezTo>
                  <a:cubicBezTo>
                    <a:pt x="1743489" y="647460"/>
                    <a:pt x="1738530" y="649515"/>
                    <a:pt x="1733358" y="649515"/>
                  </a:cubicBezTo>
                  <a:lnTo>
                    <a:pt x="19499" y="649515"/>
                  </a:lnTo>
                  <a:cubicBezTo>
                    <a:pt x="14327" y="649515"/>
                    <a:pt x="9368" y="647460"/>
                    <a:pt x="5711" y="643804"/>
                  </a:cubicBezTo>
                  <a:cubicBezTo>
                    <a:pt x="2054" y="640147"/>
                    <a:pt x="0" y="635187"/>
                    <a:pt x="0" y="630016"/>
                  </a:cubicBezTo>
                  <a:lnTo>
                    <a:pt x="0" y="19499"/>
                  </a:lnTo>
                  <a:cubicBezTo>
                    <a:pt x="0" y="8730"/>
                    <a:pt x="8730" y="0"/>
                    <a:pt x="194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  <a:ln w="19050" cap="rnd">
              <a:gradFill>
                <a:gsLst>
                  <a:gs pos="0">
                    <a:srgbClr val="01367C">
                      <a:alpha val="75000"/>
                    </a:srgbClr>
                  </a:gs>
                  <a:gs pos="100000">
                    <a:srgbClr val="5DC9E6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752857" cy="68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58520" y="6274129"/>
            <a:ext cx="8000780" cy="3588778"/>
            <a:chOff x="0" y="0"/>
            <a:chExt cx="1730880" cy="7763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30880" cy="776392"/>
            </a:xfrm>
            <a:custGeom>
              <a:avLst/>
              <a:gdLst/>
              <a:ahLst/>
              <a:cxnLst/>
              <a:rect l="l" t="t" r="r" b="b"/>
              <a:pathLst>
                <a:path w="1730880" h="776392">
                  <a:moveTo>
                    <a:pt x="23223" y="0"/>
                  </a:moveTo>
                  <a:lnTo>
                    <a:pt x="1707656" y="0"/>
                  </a:lnTo>
                  <a:cubicBezTo>
                    <a:pt x="1720482" y="0"/>
                    <a:pt x="1730880" y="10398"/>
                    <a:pt x="1730880" y="23223"/>
                  </a:cubicBezTo>
                  <a:lnTo>
                    <a:pt x="1730880" y="753169"/>
                  </a:lnTo>
                  <a:cubicBezTo>
                    <a:pt x="1730880" y="765995"/>
                    <a:pt x="1720482" y="776392"/>
                    <a:pt x="1707656" y="776392"/>
                  </a:cubicBezTo>
                  <a:lnTo>
                    <a:pt x="23223" y="776392"/>
                  </a:lnTo>
                  <a:cubicBezTo>
                    <a:pt x="10398" y="776392"/>
                    <a:pt x="0" y="765995"/>
                    <a:pt x="0" y="753169"/>
                  </a:cubicBezTo>
                  <a:lnTo>
                    <a:pt x="0" y="23223"/>
                  </a:lnTo>
                  <a:cubicBezTo>
                    <a:pt x="0" y="10398"/>
                    <a:pt x="10398" y="0"/>
                    <a:pt x="23223" y="0"/>
                  </a:cubicBezTo>
                  <a:close/>
                </a:path>
              </a:pathLst>
            </a:custGeom>
            <a:solidFill>
              <a:srgbClr val="FFFFFF">
                <a:alpha val="91765"/>
              </a:srgbClr>
            </a:solidFill>
            <a:ln w="9525" cap="rnd">
              <a:gradFill>
                <a:gsLst>
                  <a:gs pos="0">
                    <a:srgbClr val="01367C">
                      <a:alpha val="92000"/>
                    </a:srgbClr>
                  </a:gs>
                  <a:gs pos="100000">
                    <a:srgbClr val="5DC9E6">
                      <a:alpha val="9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730880" cy="814492"/>
            </a:xfrm>
            <a:prstGeom prst="rect">
              <a:avLst/>
            </a:prstGeom>
          </p:spPr>
          <p:txBody>
            <a:bodyPr lIns="43194" tIns="43194" rIns="43194" bIns="43194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6754" y="7443449"/>
            <a:ext cx="7614634" cy="1250139"/>
            <a:chOff x="0" y="0"/>
            <a:chExt cx="10152845" cy="1666852"/>
          </a:xfrm>
        </p:grpSpPr>
        <p:grpSp>
          <p:nvGrpSpPr>
            <p:cNvPr id="29" name="Group 29"/>
            <p:cNvGrpSpPr/>
            <p:nvPr/>
          </p:nvGrpSpPr>
          <p:grpSpPr>
            <a:xfrm>
              <a:off x="1054809" y="0"/>
              <a:ext cx="8454425" cy="1666852"/>
              <a:chOff x="0" y="0"/>
              <a:chExt cx="1670010" cy="32925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670010" cy="329255"/>
              </a:xfrm>
              <a:custGeom>
                <a:avLst/>
                <a:gdLst/>
                <a:ahLst/>
                <a:cxnLst/>
                <a:rect l="l" t="t" r="r" b="b"/>
                <a:pathLst>
                  <a:path w="1670010" h="329255">
                    <a:moveTo>
                      <a:pt x="29303" y="0"/>
                    </a:moveTo>
                    <a:lnTo>
                      <a:pt x="1640707" y="0"/>
                    </a:lnTo>
                    <a:cubicBezTo>
                      <a:pt x="1656890" y="0"/>
                      <a:pt x="1670010" y="13119"/>
                      <a:pt x="1670010" y="29303"/>
                    </a:cubicBezTo>
                    <a:lnTo>
                      <a:pt x="1670010" y="299952"/>
                    </a:lnTo>
                    <a:cubicBezTo>
                      <a:pt x="1670010" y="316135"/>
                      <a:pt x="1656890" y="329255"/>
                      <a:pt x="1640707" y="329255"/>
                    </a:cubicBezTo>
                    <a:lnTo>
                      <a:pt x="29303" y="329255"/>
                    </a:lnTo>
                    <a:cubicBezTo>
                      <a:pt x="13119" y="329255"/>
                      <a:pt x="0" y="316135"/>
                      <a:pt x="0" y="299952"/>
                    </a:cubicBezTo>
                    <a:lnTo>
                      <a:pt x="0" y="29303"/>
                    </a:lnTo>
                    <a:cubicBezTo>
                      <a:pt x="0" y="13119"/>
                      <a:pt x="13119" y="0"/>
                      <a:pt x="293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76200"/>
                <a:ext cx="1670010" cy="405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629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283485"/>
              <a:ext cx="10152845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RECOMMENDATIONS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0793908" y="2422238"/>
            <a:ext cx="6465392" cy="3553999"/>
          </a:xfrm>
          <a:custGeom>
            <a:avLst/>
            <a:gdLst/>
            <a:ahLst/>
            <a:cxnLst/>
            <a:rect l="l" t="t" r="r" b="b"/>
            <a:pathLst>
              <a:path w="6465392" h="3553999">
                <a:moveTo>
                  <a:pt x="0" y="0"/>
                </a:moveTo>
                <a:lnTo>
                  <a:pt x="6465392" y="0"/>
                </a:lnTo>
                <a:lnTo>
                  <a:pt x="6465392" y="3553999"/>
                </a:lnTo>
                <a:lnTo>
                  <a:pt x="0" y="3553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5287" y="2870886"/>
            <a:ext cx="8512823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Cloud Computing = highest demand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IEEE CS = strongest organizer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Feedback rate is low (20%)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High satisfaction overall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Participation uneven across faculties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259990" y="6049461"/>
            <a:ext cx="7999310" cy="395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95686"/>
                  </a:srgbClr>
                </a:solidFill>
                <a:latin typeface="Cambria"/>
                <a:ea typeface="Cambria"/>
                <a:cs typeface="Cambria"/>
                <a:sym typeface="Cambria"/>
              </a:rPr>
              <a:t>Expand Cloud + Professional Skills workshops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95686"/>
                  </a:srgbClr>
                </a:solidFill>
                <a:latin typeface="Cambria"/>
                <a:ea typeface="Cambria"/>
                <a:cs typeface="Cambria"/>
                <a:sym typeface="Cambria"/>
              </a:rPr>
              <a:t>Increase participation from other faculties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95686"/>
                  </a:srgbClr>
                </a:solidFill>
                <a:latin typeface="Cambria"/>
                <a:ea typeface="Cambria"/>
                <a:cs typeface="Cambria"/>
                <a:sym typeface="Cambria"/>
              </a:rPr>
              <a:t>Improve feedback response (QR, email, incentives)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95686"/>
                  </a:srgbClr>
                </a:solidFill>
                <a:latin typeface="Cambria"/>
                <a:ea typeface="Cambria"/>
                <a:cs typeface="Cambria"/>
                <a:sym typeface="Cambria"/>
              </a:rPr>
              <a:t>Strengthen external university collaboration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95686"/>
                  </a:srgbClr>
                </a:solidFill>
                <a:latin typeface="Cambria"/>
                <a:ea typeface="Cambria"/>
                <a:cs typeface="Cambria"/>
                <a:sym typeface="Cambria"/>
              </a:rPr>
              <a:t>Share best practices from IEEE CS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>
                  <a:alpha val="95686"/>
                </a:srgbClr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61766" y="2708389"/>
            <a:ext cx="13811123" cy="138111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22323" y="2741941"/>
            <a:ext cx="8716716" cy="3388854"/>
            <a:chOff x="0" y="0"/>
            <a:chExt cx="1381327" cy="5370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1327" cy="537027"/>
            </a:xfrm>
            <a:custGeom>
              <a:avLst/>
              <a:gdLst/>
              <a:ahLst/>
              <a:cxnLst/>
              <a:rect l="l" t="t" r="r" b="b"/>
              <a:pathLst>
                <a:path w="1381327" h="537027">
                  <a:moveTo>
                    <a:pt x="21316" y="0"/>
                  </a:moveTo>
                  <a:lnTo>
                    <a:pt x="1360011" y="0"/>
                  </a:lnTo>
                  <a:cubicBezTo>
                    <a:pt x="1365664" y="0"/>
                    <a:pt x="1371086" y="2246"/>
                    <a:pt x="1375084" y="6243"/>
                  </a:cubicBezTo>
                  <a:cubicBezTo>
                    <a:pt x="1379081" y="10241"/>
                    <a:pt x="1381327" y="15663"/>
                    <a:pt x="1381327" y="21316"/>
                  </a:cubicBezTo>
                  <a:lnTo>
                    <a:pt x="1381327" y="515711"/>
                  </a:lnTo>
                  <a:cubicBezTo>
                    <a:pt x="1381327" y="521365"/>
                    <a:pt x="1379081" y="526787"/>
                    <a:pt x="1375084" y="530784"/>
                  </a:cubicBezTo>
                  <a:cubicBezTo>
                    <a:pt x="1371086" y="534782"/>
                    <a:pt x="1365664" y="537027"/>
                    <a:pt x="1360011" y="537027"/>
                  </a:cubicBezTo>
                  <a:lnTo>
                    <a:pt x="21316" y="537027"/>
                  </a:lnTo>
                  <a:cubicBezTo>
                    <a:pt x="15663" y="537027"/>
                    <a:pt x="10241" y="534782"/>
                    <a:pt x="6243" y="530784"/>
                  </a:cubicBezTo>
                  <a:cubicBezTo>
                    <a:pt x="2246" y="526787"/>
                    <a:pt x="0" y="521365"/>
                    <a:pt x="0" y="515711"/>
                  </a:cubicBezTo>
                  <a:lnTo>
                    <a:pt x="0" y="21316"/>
                  </a:lnTo>
                  <a:cubicBezTo>
                    <a:pt x="0" y="15663"/>
                    <a:pt x="2246" y="10241"/>
                    <a:pt x="6243" y="6243"/>
                  </a:cubicBezTo>
                  <a:cubicBezTo>
                    <a:pt x="10241" y="2246"/>
                    <a:pt x="15663" y="0"/>
                    <a:pt x="21316" y="0"/>
                  </a:cubicBezTo>
                  <a:close/>
                </a:path>
              </a:pathLst>
            </a:custGeom>
            <a:solidFill>
              <a:srgbClr val="FFFFFF">
                <a:alpha val="82745"/>
              </a:srgbClr>
            </a:solidFill>
            <a:ln w="9525" cap="rnd">
              <a:gradFill>
                <a:gsLst>
                  <a:gs pos="0">
                    <a:srgbClr val="01367C">
                      <a:alpha val="83000"/>
                    </a:srgbClr>
                  </a:gs>
                  <a:gs pos="100000">
                    <a:srgbClr val="5DC9E6">
                      <a:alpha val="83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81327" cy="57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96060" y="6274336"/>
            <a:ext cx="612372" cy="6123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1390" y="6624489"/>
            <a:ext cx="591405" cy="5914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80694" y="823230"/>
            <a:ext cx="7495043" cy="1250139"/>
            <a:chOff x="0" y="0"/>
            <a:chExt cx="9993391" cy="1666852"/>
          </a:xfrm>
        </p:grpSpPr>
        <p:grpSp>
          <p:nvGrpSpPr>
            <p:cNvPr id="18" name="Group 18"/>
            <p:cNvGrpSpPr/>
            <p:nvPr/>
          </p:nvGrpSpPr>
          <p:grpSpPr>
            <a:xfrm>
              <a:off x="864737" y="0"/>
              <a:ext cx="8482876" cy="1666852"/>
              <a:chOff x="0" y="0"/>
              <a:chExt cx="1675630" cy="32925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675630" cy="329255"/>
              </a:xfrm>
              <a:custGeom>
                <a:avLst/>
                <a:gdLst/>
                <a:ahLst/>
                <a:cxnLst/>
                <a:rect l="l" t="t" r="r" b="b"/>
                <a:pathLst>
                  <a:path w="1675630" h="329255">
                    <a:moveTo>
                      <a:pt x="29205" y="0"/>
                    </a:moveTo>
                    <a:lnTo>
                      <a:pt x="1646425" y="0"/>
                    </a:lnTo>
                    <a:cubicBezTo>
                      <a:pt x="1662554" y="0"/>
                      <a:pt x="1675630" y="13075"/>
                      <a:pt x="1675630" y="29205"/>
                    </a:cubicBezTo>
                    <a:lnTo>
                      <a:pt x="1675630" y="300050"/>
                    </a:lnTo>
                    <a:cubicBezTo>
                      <a:pt x="1675630" y="307795"/>
                      <a:pt x="1672553" y="315224"/>
                      <a:pt x="1667076" y="320701"/>
                    </a:cubicBezTo>
                    <a:cubicBezTo>
                      <a:pt x="1661599" y="326178"/>
                      <a:pt x="1654171" y="329255"/>
                      <a:pt x="1646425" y="329255"/>
                    </a:cubicBezTo>
                    <a:lnTo>
                      <a:pt x="29205" y="329255"/>
                    </a:lnTo>
                    <a:cubicBezTo>
                      <a:pt x="13075" y="329255"/>
                      <a:pt x="0" y="316179"/>
                      <a:pt x="0" y="300050"/>
                    </a:cubicBezTo>
                    <a:lnTo>
                      <a:pt x="0" y="29205"/>
                    </a:lnTo>
                    <a:cubicBezTo>
                      <a:pt x="0" y="13075"/>
                      <a:pt x="13075" y="0"/>
                      <a:pt x="2920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675630" cy="3673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283485"/>
              <a:ext cx="9993391" cy="899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70790" y="842772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66588" y="2919353"/>
            <a:ext cx="9881445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BI dashboard successfully built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Converts raw data into insights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 data-driven decision making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Improves workshop planning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Future work - more years + predictive analysis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47" y="5900947"/>
            <a:ext cx="6409322" cy="4491392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70" y="5902380"/>
            <a:ext cx="6392118" cy="4479336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4336" y="5902380"/>
            <a:ext cx="6392118" cy="447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91263" y="1138476"/>
            <a:ext cx="10379158" cy="103791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3669" y="6356814"/>
            <a:ext cx="1291938" cy="129193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813501" y="6764258"/>
            <a:ext cx="592274" cy="477050"/>
          </a:xfrm>
          <a:custGeom>
            <a:avLst/>
            <a:gdLst/>
            <a:ahLst/>
            <a:cxnLst/>
            <a:rect l="l" t="t" r="r" b="b"/>
            <a:pathLst>
              <a:path w="592274" h="477050">
                <a:moveTo>
                  <a:pt x="0" y="0"/>
                </a:moveTo>
                <a:lnTo>
                  <a:pt x="592274" y="0"/>
                </a:lnTo>
                <a:lnTo>
                  <a:pt x="592274" y="477050"/>
                </a:lnTo>
                <a:lnTo>
                  <a:pt x="0" y="477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61370" y="4376088"/>
            <a:ext cx="5238945" cy="238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66"/>
              </a:lnSpc>
            </a:pPr>
            <a:r>
              <a:rPr lang="en-US" sz="16286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Q &amp; 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2873" y="918210"/>
            <a:ext cx="1132734" cy="24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 b="1" dirty="0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81284" y="870646"/>
            <a:ext cx="410939" cy="316107"/>
            <a:chOff x="0" y="0"/>
            <a:chExt cx="660400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74539" y="1509017"/>
            <a:ext cx="10379158" cy="103791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0790" y="5406658"/>
            <a:ext cx="1291938" cy="129193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367C">
                    <a:alpha val="100000"/>
                  </a:srgbClr>
                </a:gs>
                <a:gs pos="100000">
                  <a:srgbClr val="5DC9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020622" y="5814102"/>
            <a:ext cx="592274" cy="477050"/>
          </a:xfrm>
          <a:custGeom>
            <a:avLst/>
            <a:gdLst/>
            <a:ahLst/>
            <a:cxnLst/>
            <a:rect l="l" t="t" r="r" b="b"/>
            <a:pathLst>
              <a:path w="592274" h="477050">
                <a:moveTo>
                  <a:pt x="0" y="0"/>
                </a:moveTo>
                <a:lnTo>
                  <a:pt x="592274" y="0"/>
                </a:lnTo>
                <a:lnTo>
                  <a:pt x="592274" y="477050"/>
                </a:lnTo>
                <a:lnTo>
                  <a:pt x="0" y="477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70790" y="842772"/>
            <a:ext cx="1132734" cy="22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99" b="1" dirty="0">
                <a:solidFill>
                  <a:srgbClr val="2F2F2F"/>
                </a:solidFill>
                <a:latin typeface="Cambria Bold"/>
                <a:ea typeface="Cambria Bold"/>
                <a:cs typeface="Cambria Bold"/>
                <a:sym typeface="Cambria Bold"/>
              </a:rPr>
              <a:t>GROUP 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9236" y="5195810"/>
            <a:ext cx="8483440" cy="1588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84"/>
              </a:lnSpc>
            </a:pPr>
            <a:r>
              <a:rPr lang="en-US" sz="10863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 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Custom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</vt:lpstr>
      <vt:lpstr>Arial</vt:lpstr>
      <vt:lpstr>Calibri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06_Academic Workshop Participation &amp; Engagement Analysis </dc:title>
  <cp:lastModifiedBy>G. KEMITHA KRISHMANTHI</cp:lastModifiedBy>
  <cp:revision>2</cp:revision>
  <dcterms:created xsi:type="dcterms:W3CDTF">2006-08-16T00:00:00Z</dcterms:created>
  <dcterms:modified xsi:type="dcterms:W3CDTF">2026-07-05T17:34:20Z</dcterms:modified>
  <dc:identifier>DAHOfZAUwcc</dc:identifier>
</cp:coreProperties>
</file>